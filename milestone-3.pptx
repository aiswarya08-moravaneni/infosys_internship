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5" r:id="rId6"/>
    <p:sldId id="261" r:id="rId7"/>
    <p:sldId id="266" r:id="rId8"/>
    <p:sldId id="262" r:id="rId9"/>
    <p:sldId id="267" r:id="rId10"/>
    <p:sldId id="263" r:id="rId11"/>
    <p:sldId id="268" r:id="rId12"/>
    <p:sldId id="269" r:id="rId13"/>
    <p:sldId id="264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CD58D-72E4-4410-BC83-989476536E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21208-EE04-4CC0-BB8A-0379A204F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39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21208-EE04-4CC0-BB8A-0379A204FF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40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5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5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13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0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5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3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30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43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64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6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491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9880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7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81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5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741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374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1568-0515-00DB-8771-35F54050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C7E6E-25C0-AB47-D939-24A4C25C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FB67C-AC1A-8DD7-CEAB-FE43A179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2B49-2DB0-7FA8-C492-A946EB49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B6125-E621-091D-DE7D-242D1AB5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4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E787A-B95D-49DC-B268-B175F366C2A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00B69-7429-446C-B523-E8DDEA181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87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AB2F-650D-BBBC-1317-E9CA37A3D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8304105" cy="1024489"/>
          </a:xfrm>
        </p:spPr>
        <p:txBody>
          <a:bodyPr/>
          <a:lstStyle/>
          <a:p>
            <a:r>
              <a:rPr lang="en-IN" dirty="0"/>
              <a:t>HotelRevAI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43EC2-88D7-4A9F-6E3C-4C0DDCDC4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412" y="2577549"/>
            <a:ext cx="9001462" cy="1655762"/>
          </a:xfrm>
        </p:spPr>
        <p:txBody>
          <a:bodyPr/>
          <a:lstStyle/>
          <a:p>
            <a:r>
              <a:rPr lang="en-US" dirty="0"/>
              <a:t>AI Driven Revenue Analysis for Hotels</a:t>
            </a:r>
          </a:p>
          <a:p>
            <a:r>
              <a:rPr lang="en-US" dirty="0"/>
              <a:t>Internship Milestone 3 Presentation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F7441-8B8C-306C-47D9-E2CF2F6413D3}"/>
              </a:ext>
            </a:extLst>
          </p:cNvPr>
          <p:cNvSpPr txBox="1"/>
          <p:nvPr/>
        </p:nvSpPr>
        <p:spPr>
          <a:xfrm>
            <a:off x="7005099" y="4309607"/>
            <a:ext cx="4174435" cy="1477328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Team-B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Moravaneni Aiswarya Lakshmi</a:t>
            </a:r>
            <a:br>
              <a:rPr lang="en-IN" dirty="0"/>
            </a:br>
            <a:r>
              <a:rPr lang="en-IN" dirty="0"/>
              <a:t>Syed Naveed Muzammil 	</a:t>
            </a:r>
          </a:p>
          <a:p>
            <a:r>
              <a:rPr lang="en-IN" dirty="0"/>
              <a:t>Lakshmi </a:t>
            </a:r>
            <a:r>
              <a:rPr lang="en-IN" dirty="0" err="1"/>
              <a:t>kalyani</a:t>
            </a:r>
            <a:r>
              <a:rPr lang="en-IN" dirty="0"/>
              <a:t> Akula</a:t>
            </a:r>
          </a:p>
        </p:txBody>
      </p:sp>
    </p:spTree>
    <p:extLst>
      <p:ext uri="{BB962C8B-B14F-4D97-AF65-F5344CB8AC3E}">
        <p14:creationId xmlns:p14="http://schemas.microsoft.com/office/powerpoint/2010/main" val="152901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36B1-F436-4ACD-E692-6508378A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Cleaning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78327-9817-54F5-06DF-EBC249DBE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Removed duplicates and invalid records</a:t>
            </a:r>
          </a:p>
          <a:p>
            <a:r>
              <a:rPr lang="en-US" dirty="0"/>
              <a:t>Handled missing values</a:t>
            </a:r>
          </a:p>
          <a:p>
            <a:r>
              <a:rPr lang="en-US" dirty="0"/>
              <a:t>Created derived fields: Total Nights, Revenue</a:t>
            </a:r>
          </a:p>
          <a:p>
            <a:r>
              <a:rPr lang="en-US" dirty="0"/>
              <a:t>Filtered cancelled zero-revenue records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41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1822-8D16-DA48-5E1D-D516AADA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Modeling in Power BI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06B1-5897-F16A-381A-182C88C25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Date dimension table</a:t>
            </a:r>
          </a:p>
          <a:p>
            <a:r>
              <a:rPr lang="en-US" dirty="0"/>
              <a:t>Built relationships between Date and Arrival data</a:t>
            </a:r>
          </a:p>
          <a:p>
            <a:r>
              <a:rPr lang="en-US" dirty="0"/>
              <a:t>Defined business measures using DAX</a:t>
            </a:r>
          </a:p>
          <a:p>
            <a:r>
              <a:rPr lang="en-US" dirty="0"/>
              <a:t>Enabled time-based analysis and forecasting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52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BA35-BDF1-E2C2-D11D-73C95C9A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1: Revenue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C5ADB-A717-CEA8-E0E5-715F9DBB8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7" t="19593" r="37249" b="13355"/>
          <a:stretch>
            <a:fillRect/>
          </a:stretch>
        </p:blipFill>
        <p:spPr>
          <a:xfrm>
            <a:off x="7551174" y="2057400"/>
            <a:ext cx="4139382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C18A69-B23C-58AF-D462-E3829526C04A}"/>
              </a:ext>
            </a:extLst>
          </p:cNvPr>
          <p:cNvSpPr txBox="1"/>
          <p:nvPr/>
        </p:nvSpPr>
        <p:spPr>
          <a:xfrm>
            <a:off x="1238865" y="1818969"/>
            <a:ext cx="597801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lvl="0" indent="-182880" defTabSz="91440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Track overall revenue growth or decline over time.</a:t>
            </a:r>
          </a:p>
          <a:p>
            <a:pPr marL="182880" lvl="0" indent="-182880" defTabSz="91440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Identify peak and low revenue seasons for better planning.</a:t>
            </a:r>
          </a:p>
          <a:p>
            <a:pPr marL="182880" lvl="0" indent="-182880" defTabSz="91440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Evaluate the effectiveness of pricing strategies using ADR trends.</a:t>
            </a:r>
          </a:p>
          <a:p>
            <a:pPr marL="182880" lvl="0" indent="-182880" defTabSz="91440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Support budgeting and financial planning decisions.</a:t>
            </a:r>
          </a:p>
          <a:p>
            <a:pPr marL="182880" lvl="0" indent="-182880" defTabSz="91440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Provide a high-level revenue summary for executives and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5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DF0B-3C34-F141-3CC0-2DE90193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65472"/>
            <a:ext cx="10058400" cy="1219200"/>
          </a:xfrm>
        </p:spPr>
        <p:txBody>
          <a:bodyPr/>
          <a:lstStyle/>
          <a:p>
            <a:r>
              <a:rPr lang="en-US" dirty="0"/>
              <a:t>DAX USED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CE72D-8E5E-DC42-F256-CCA2E3FE1BB1}"/>
              </a:ext>
            </a:extLst>
          </p:cNvPr>
          <p:cNvSpPr txBox="1"/>
          <p:nvPr/>
        </p:nvSpPr>
        <p:spPr>
          <a:xfrm>
            <a:off x="865238" y="1426129"/>
            <a:ext cx="5909187" cy="64633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CALCULATE( SUM(hotel_cleaned_revenue[revenue]),</a:t>
            </a:r>
          </a:p>
          <a:p>
            <a:r>
              <a:rPr lang="en-US" dirty="0">
                <a:solidFill>
                  <a:schemeClr val="tx1"/>
                </a:solidFill>
              </a:rPr>
              <a:t>   hotel_cleaned_revenue[is_canceled] = 0)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5F848-0EEB-6679-A74C-AA2945AD4F81}"/>
              </a:ext>
            </a:extLst>
          </p:cNvPr>
          <p:cNvSpPr txBox="1"/>
          <p:nvPr/>
        </p:nvSpPr>
        <p:spPr>
          <a:xfrm>
            <a:off x="8565521" y="1571468"/>
            <a:ext cx="190745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Total Revenue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20F7C-99DA-56BB-0879-B44C2C639BE9}"/>
              </a:ext>
            </a:extLst>
          </p:cNvPr>
          <p:cNvSpPr txBox="1"/>
          <p:nvPr/>
        </p:nvSpPr>
        <p:spPr>
          <a:xfrm>
            <a:off x="6774425" y="2198584"/>
            <a:ext cx="5014452" cy="120032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CALCULATE(</a:t>
            </a:r>
          </a:p>
          <a:p>
            <a:r>
              <a:rPr lang="en-US" dirty="0"/>
              <a:t>    AVERAGE(hotel_cleaned_revenue[adr]),</a:t>
            </a:r>
          </a:p>
          <a:p>
            <a:r>
              <a:rPr lang="en-US" dirty="0"/>
              <a:t>    hotel_cleaned_revenue[is_canceled] = 0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D8B1C-DBA6-E8C1-3299-517EAEBBA195}"/>
              </a:ext>
            </a:extLst>
          </p:cNvPr>
          <p:cNvSpPr txBox="1"/>
          <p:nvPr/>
        </p:nvSpPr>
        <p:spPr>
          <a:xfrm>
            <a:off x="2300748" y="2614082"/>
            <a:ext cx="165506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Average ADR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25DCD5-BDF0-3673-3007-6F78C7133281}"/>
              </a:ext>
            </a:extLst>
          </p:cNvPr>
          <p:cNvSpPr txBox="1"/>
          <p:nvPr/>
        </p:nvSpPr>
        <p:spPr>
          <a:xfrm>
            <a:off x="865238" y="3466494"/>
            <a:ext cx="5909187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CALCULATE(</a:t>
            </a:r>
          </a:p>
          <a:p>
            <a:r>
              <a:rPr lang="en-US" dirty="0"/>
              <a:t>    SUM(hotel_cleaned_revenue[total_nights]),</a:t>
            </a:r>
          </a:p>
          <a:p>
            <a:r>
              <a:rPr lang="en-US" dirty="0"/>
              <a:t>    hotel_cleaned_revenue[is_canceled] = 0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05D86C-0A7E-05E0-C0BC-240F0A13B416}"/>
              </a:ext>
            </a:extLst>
          </p:cNvPr>
          <p:cNvSpPr txBox="1"/>
          <p:nvPr/>
        </p:nvSpPr>
        <p:spPr>
          <a:xfrm>
            <a:off x="8565522" y="3881992"/>
            <a:ext cx="190745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Total Nights 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EBD1737-B53C-4068-4457-CA834BE3D6B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955816" y="2798748"/>
            <a:ext cx="2818609" cy="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FA14716-B53E-0B25-440B-C1C8975B283A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rot="10800000" flipV="1">
            <a:off x="6774426" y="4066657"/>
            <a:ext cx="1791097" cy="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A580AF-E6A8-2E8F-1B2A-5092B9C4A05D}"/>
              </a:ext>
            </a:extLst>
          </p:cNvPr>
          <p:cNvSpPr txBox="1"/>
          <p:nvPr/>
        </p:nvSpPr>
        <p:spPr>
          <a:xfrm>
            <a:off x="865238" y="4897655"/>
            <a:ext cx="5909187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CALCULATE(</a:t>
            </a:r>
          </a:p>
          <a:p>
            <a:r>
              <a:rPr lang="en-US" dirty="0"/>
              <a:t>    COUNTROWS(hotel_cleaned_revenue),</a:t>
            </a:r>
          </a:p>
          <a:p>
            <a:r>
              <a:rPr lang="en-US" dirty="0"/>
              <a:t>    hotel_cleaned_revenue[is_canceled] = 0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725E6D-EABB-306E-5A11-00B0AF4A3786}"/>
              </a:ext>
            </a:extLst>
          </p:cNvPr>
          <p:cNvSpPr txBox="1"/>
          <p:nvPr/>
        </p:nvSpPr>
        <p:spPr>
          <a:xfrm>
            <a:off x="8565521" y="5313155"/>
            <a:ext cx="190745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Total Bookings 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BEE7440-2D54-7B6C-A54A-9DCEF543B104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rot="10800000">
            <a:off x="6774425" y="5497821"/>
            <a:ext cx="1791096" cy="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2A9C609-9836-8031-D5EC-64D057082553}"/>
              </a:ext>
            </a:extLst>
          </p:cNvPr>
          <p:cNvCxnSpPr>
            <a:stCxn id="6" idx="1"/>
            <a:endCxn id="4" idx="3"/>
          </p:cNvCxnSpPr>
          <p:nvPr/>
        </p:nvCxnSpPr>
        <p:spPr>
          <a:xfrm flipH="1" flipV="1">
            <a:off x="6774425" y="1749295"/>
            <a:ext cx="1791096" cy="683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04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2131-0D6B-55E3-7246-FCB7FAFF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1515"/>
            <a:ext cx="10058400" cy="1609344"/>
          </a:xfrm>
        </p:spPr>
        <p:txBody>
          <a:bodyPr/>
          <a:lstStyle/>
          <a:p>
            <a:r>
              <a:rPr lang="en-IN" dirty="0"/>
              <a:t>Dashboard 2: Occupancy &amp; Demand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6755-9696-2F0A-7975-229D6638A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6284681" cy="3477875"/>
          </a:xfrm>
          <a:noFill/>
        </p:spPr>
        <p:txBody>
          <a:bodyPr wrap="square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/>
              <a:t>To measure how efficiently hotel rooms are utilized.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identify periods of overutilization and underutilization.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compare City Hotel and Resort Hotel demand patterns.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assist in capacity planning and staffing decisions.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support dynamic pricing strategies based on demand levels.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24F27-D5F4-2962-97A8-2A03086E0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3" t="20093" r="36297" b="15828"/>
          <a:stretch>
            <a:fillRect/>
          </a:stretch>
        </p:blipFill>
        <p:spPr>
          <a:xfrm>
            <a:off x="7521677" y="2331426"/>
            <a:ext cx="4129550" cy="259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34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6731-8DE9-BECA-2BDF-EC0A68DD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USED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6F839-C42C-F9B6-E356-5C1E59E4B3AC}"/>
              </a:ext>
            </a:extLst>
          </p:cNvPr>
          <p:cNvSpPr txBox="1"/>
          <p:nvPr/>
        </p:nvSpPr>
        <p:spPr>
          <a:xfrm>
            <a:off x="1069848" y="2252325"/>
            <a:ext cx="7393858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IF( SELECTEDVALUE(hotel_cleaned_revenue[hotel]) = "City Hotel",</a:t>
            </a:r>
          </a:p>
          <a:p>
            <a:r>
              <a:rPr lang="en-US" dirty="0"/>
              <a:t>    200,</a:t>
            </a:r>
          </a:p>
          <a:p>
            <a:r>
              <a:rPr lang="en-US" dirty="0"/>
              <a:t>    150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8CABE-EC05-9EFC-67A1-EF172D1AEB3D}"/>
              </a:ext>
            </a:extLst>
          </p:cNvPr>
          <p:cNvSpPr txBox="1"/>
          <p:nvPr/>
        </p:nvSpPr>
        <p:spPr>
          <a:xfrm>
            <a:off x="9910917" y="2644169"/>
            <a:ext cx="1907458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Room Capacity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799340-0936-E9A2-7B58-B176B95A807C}"/>
              </a:ext>
            </a:extLst>
          </p:cNvPr>
          <p:cNvCxnSpPr>
            <a:stCxn id="4" idx="1"/>
            <a:endCxn id="3" idx="3"/>
          </p:cNvCxnSpPr>
          <p:nvPr/>
        </p:nvCxnSpPr>
        <p:spPr>
          <a:xfrm flipH="1">
            <a:off x="8463706" y="2828835"/>
            <a:ext cx="1447211" cy="236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700D75-813D-3578-FFDC-C2E4F1AC365B}"/>
              </a:ext>
            </a:extLst>
          </p:cNvPr>
          <p:cNvSpPr txBox="1"/>
          <p:nvPr/>
        </p:nvSpPr>
        <p:spPr>
          <a:xfrm>
            <a:off x="1069848" y="3716595"/>
            <a:ext cx="7393858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DIVIDE(</a:t>
            </a:r>
          </a:p>
          <a:p>
            <a:r>
              <a:rPr lang="en-US" dirty="0"/>
              <a:t>    [Total Bookings],</a:t>
            </a:r>
          </a:p>
          <a:p>
            <a:r>
              <a:rPr lang="en-US" dirty="0"/>
              <a:t>    [Room Capacity]</a:t>
            </a:r>
          </a:p>
          <a:p>
            <a:r>
              <a:rPr lang="en-US" dirty="0"/>
              <a:t>) * 100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D4EFF-D76F-D439-41B9-0E3203BA1260}"/>
              </a:ext>
            </a:extLst>
          </p:cNvPr>
          <p:cNvSpPr txBox="1"/>
          <p:nvPr/>
        </p:nvSpPr>
        <p:spPr>
          <a:xfrm>
            <a:off x="9910917" y="3993593"/>
            <a:ext cx="1907458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Occupancy Rate (%)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04CD15-BA70-7A69-CD0E-B7CEFA79C2B2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>
            <a:off x="8463706" y="4316759"/>
            <a:ext cx="144721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78877A-6636-C2DA-A5CD-B807E3F51BB5}"/>
              </a:ext>
            </a:extLst>
          </p:cNvPr>
          <p:cNvSpPr txBox="1"/>
          <p:nvPr/>
        </p:nvSpPr>
        <p:spPr>
          <a:xfrm>
            <a:off x="1069848" y="5556073"/>
            <a:ext cx="7393858" cy="3693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AVERAGE</a:t>
            </a:r>
            <a:r>
              <a:rPr lang="en-US" dirty="0"/>
              <a:t>([Occupancy Rate (%)])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11545-3A15-813E-56A3-A8916FCFF64E}"/>
              </a:ext>
            </a:extLst>
          </p:cNvPr>
          <p:cNvSpPr txBox="1"/>
          <p:nvPr/>
        </p:nvSpPr>
        <p:spPr>
          <a:xfrm>
            <a:off x="9910917" y="5417574"/>
            <a:ext cx="1907458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Average Occupancy Rate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542AF9-9936-17C9-C1B5-C9DDF83407F2}"/>
              </a:ext>
            </a:extLst>
          </p:cNvPr>
          <p:cNvCxnSpPr>
            <a:stCxn id="12" idx="1"/>
            <a:endCxn id="11" idx="3"/>
          </p:cNvCxnSpPr>
          <p:nvPr/>
        </p:nvCxnSpPr>
        <p:spPr>
          <a:xfrm flipH="1" flipV="1">
            <a:off x="8463706" y="5740739"/>
            <a:ext cx="144721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48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7673-79DE-97EB-B4E1-A91BA67A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3: Cancellation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9AA33-2D1F-3449-CAA2-5ED99BBA1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6088036" cy="3200876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/>
              <a:t>To analyze the impact of cancellations on revenue loss.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identify high-risk customer segments and booking channels.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monitor cancellation trends over time.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support the design of better cancellation and deposit policies.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help minimize revenue leakage and operational uncertainty.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8E237-8A6F-D4B4-D950-3095F9588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20142" r="36694" b="17084"/>
          <a:stretch>
            <a:fillRect/>
          </a:stretch>
        </p:blipFill>
        <p:spPr>
          <a:xfrm>
            <a:off x="7325032" y="2121408"/>
            <a:ext cx="4670324" cy="29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0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DA4F-0B59-5DF6-4A32-5CB04DA8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USED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F9E72-1995-A722-EA18-ED487219CE10}"/>
              </a:ext>
            </a:extLst>
          </p:cNvPr>
          <p:cNvSpPr txBox="1"/>
          <p:nvPr/>
        </p:nvSpPr>
        <p:spPr>
          <a:xfrm>
            <a:off x="1063752" y="1863143"/>
            <a:ext cx="5622183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CALCULATE(</a:t>
            </a:r>
          </a:p>
          <a:p>
            <a:r>
              <a:rPr lang="en-US" dirty="0"/>
              <a:t>    COUNTROWS(hotel_cleaned_revenue),</a:t>
            </a:r>
          </a:p>
          <a:p>
            <a:r>
              <a:rPr lang="en-US" dirty="0"/>
              <a:t>    hotel_cleaned_revenue[is_canceled] = 1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BC56A-4D00-2DA0-2E3E-5EA92C45ACFA}"/>
              </a:ext>
            </a:extLst>
          </p:cNvPr>
          <p:cNvSpPr txBox="1"/>
          <p:nvPr/>
        </p:nvSpPr>
        <p:spPr>
          <a:xfrm>
            <a:off x="8485240" y="2278641"/>
            <a:ext cx="2467896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Cancelled Bookings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30CB5-E103-99C1-CA54-1D20E4A4DB42}"/>
              </a:ext>
            </a:extLst>
          </p:cNvPr>
          <p:cNvSpPr txBox="1"/>
          <p:nvPr/>
        </p:nvSpPr>
        <p:spPr>
          <a:xfrm>
            <a:off x="1063752" y="3429000"/>
            <a:ext cx="5622183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CALCULATE(</a:t>
            </a:r>
          </a:p>
          <a:p>
            <a:r>
              <a:rPr lang="en-US" dirty="0"/>
              <a:t>    SUM(hotel_cleaned_revenue[revenue]),</a:t>
            </a:r>
          </a:p>
          <a:p>
            <a:r>
              <a:rPr lang="en-US" dirty="0"/>
              <a:t>    hotel_cleaned_revenue[is_canceled] = 1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2AA64-24A6-5AB4-5B8F-F4940A1E277E}"/>
              </a:ext>
            </a:extLst>
          </p:cNvPr>
          <p:cNvSpPr txBox="1"/>
          <p:nvPr/>
        </p:nvSpPr>
        <p:spPr>
          <a:xfrm>
            <a:off x="8485240" y="3844498"/>
            <a:ext cx="2467896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Lost Revenue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A4AFE-3836-E5F3-89B5-96AB31BF06FC}"/>
              </a:ext>
            </a:extLst>
          </p:cNvPr>
          <p:cNvSpPr txBox="1"/>
          <p:nvPr/>
        </p:nvSpPr>
        <p:spPr>
          <a:xfrm>
            <a:off x="1063752" y="5051253"/>
            <a:ext cx="5622183" cy="12003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DIVIDE(</a:t>
            </a:r>
          </a:p>
          <a:p>
            <a:r>
              <a:rPr lang="en-US" dirty="0"/>
              <a:t>    [Cancelled Bookings],</a:t>
            </a:r>
          </a:p>
          <a:p>
            <a:r>
              <a:rPr lang="en-US" dirty="0"/>
              <a:t>    COUNTROWS(hotel_cleaned_revenue)</a:t>
            </a:r>
          </a:p>
          <a:p>
            <a:r>
              <a:rPr lang="en-US" dirty="0"/>
              <a:t>) * 100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6BEDF2-F750-18A1-A0F0-72051AFC7962}"/>
              </a:ext>
            </a:extLst>
          </p:cNvPr>
          <p:cNvSpPr txBox="1"/>
          <p:nvPr/>
        </p:nvSpPr>
        <p:spPr>
          <a:xfrm>
            <a:off x="8485240" y="5328251"/>
            <a:ext cx="2467896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Cancellation Rate (%)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B58AD8-36AA-631C-9B0E-FC8D55D6E4D3}"/>
              </a:ext>
            </a:extLst>
          </p:cNvPr>
          <p:cNvCxnSpPr>
            <a:stCxn id="4" idx="1"/>
            <a:endCxn id="3" idx="3"/>
          </p:cNvCxnSpPr>
          <p:nvPr/>
        </p:nvCxnSpPr>
        <p:spPr>
          <a:xfrm flipH="1">
            <a:off x="6685935" y="2463307"/>
            <a:ext cx="179930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4D0047-57EF-F899-7F4B-E37DDD250429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6685935" y="4029164"/>
            <a:ext cx="179930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E29D9F-3178-7D12-4380-B5CD30851E76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>
            <a:off x="6685935" y="5651417"/>
            <a:ext cx="179930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78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87F7-7919-1B5D-6FAC-12560C77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Dashboard 4: Revenue Forecasting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FBF30-D79A-2545-6CE3-F8A2E1067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6520655" cy="2923877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/>
              <a:t>To </a:t>
            </a:r>
            <a:r>
              <a:rPr lang="en-US" altLang="en-US"/>
              <a:t>predict </a:t>
            </a:r>
            <a:r>
              <a:rPr lang="en-US" altLang="en-US" dirty="0"/>
              <a:t>future </a:t>
            </a:r>
            <a:r>
              <a:rPr lang="en-US" altLang="en-US"/>
              <a:t>hotel revenue</a:t>
            </a:r>
            <a:r>
              <a:rPr lang="en-US" altLang="en-US" dirty="0"/>
              <a:t> based on historical trends.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assist management </a:t>
            </a:r>
            <a:r>
              <a:rPr lang="en-US" altLang="en-US"/>
              <a:t>in </a:t>
            </a:r>
            <a:r>
              <a:rPr lang="en-US" altLang="en-US" dirty="0"/>
              <a:t>budgeting and </a:t>
            </a:r>
            <a:r>
              <a:rPr lang="en-US" altLang="en-US"/>
              <a:t>financial forecasting</a:t>
            </a:r>
            <a:r>
              <a:rPr lang="en-US" altLang="en-US" dirty="0"/>
              <a:t>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</a:t>
            </a:r>
            <a:r>
              <a:rPr lang="en-US" altLang="en-US"/>
              <a:t>support </a:t>
            </a:r>
            <a:r>
              <a:rPr lang="en-US" altLang="en-US" dirty="0"/>
              <a:t>staffing and </a:t>
            </a:r>
            <a:r>
              <a:rPr lang="en-US" altLang="en-US"/>
              <a:t>resource planning</a:t>
            </a:r>
            <a:r>
              <a:rPr lang="en-US" altLang="en-US" dirty="0"/>
              <a:t> decisions.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</a:t>
            </a:r>
            <a:r>
              <a:rPr lang="en-US" altLang="en-US"/>
              <a:t>identify </a:t>
            </a:r>
            <a:r>
              <a:rPr lang="en-US" altLang="en-US" dirty="0"/>
              <a:t>potential revenue risks </a:t>
            </a:r>
            <a:r>
              <a:rPr lang="en-US" altLang="en-US"/>
              <a:t>or stability</a:t>
            </a:r>
            <a:r>
              <a:rPr lang="en-US" altLang="en-US" dirty="0"/>
              <a:t> in upcoming periods.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To </a:t>
            </a:r>
            <a:r>
              <a:rPr lang="en-US" altLang="en-US"/>
              <a:t>enable </a:t>
            </a:r>
            <a:r>
              <a:rPr lang="en-US" altLang="en-US" dirty="0"/>
              <a:t>proactive, data-driven </a:t>
            </a:r>
            <a:r>
              <a:rPr lang="en-US" altLang="en-US"/>
              <a:t>strategic planning.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378F2-C192-9F1E-107E-B38230EB6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" t="19659" r="36595" b="16654"/>
          <a:stretch>
            <a:fillRect/>
          </a:stretch>
        </p:blipFill>
        <p:spPr>
          <a:xfrm>
            <a:off x="7708492" y="2121408"/>
            <a:ext cx="4188542" cy="30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5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099-7617-A2AE-FDB8-175BCC24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USED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E9408-F640-455C-4008-8F760FF2FB56}"/>
              </a:ext>
            </a:extLst>
          </p:cNvPr>
          <p:cNvSpPr txBox="1"/>
          <p:nvPr/>
        </p:nvSpPr>
        <p:spPr>
          <a:xfrm>
            <a:off x="1347020" y="2093976"/>
            <a:ext cx="3283975" cy="1754326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MonthStartDate</a:t>
            </a:r>
            <a:r>
              <a:rPr lang="en-US" dirty="0"/>
              <a:t> =</a:t>
            </a:r>
          </a:p>
          <a:p>
            <a:r>
              <a:rPr lang="en-US" dirty="0"/>
              <a:t>DATE(</a:t>
            </a:r>
          </a:p>
          <a:p>
            <a:r>
              <a:rPr lang="en-US" dirty="0"/>
              <a:t>    YEAR(</a:t>
            </a:r>
            <a:r>
              <a:rPr lang="en-US" dirty="0" err="1"/>
              <a:t>DateTable</a:t>
            </a:r>
            <a:r>
              <a:rPr lang="en-US" dirty="0"/>
              <a:t>[Date]),</a:t>
            </a:r>
          </a:p>
          <a:p>
            <a:r>
              <a:rPr lang="en-US" dirty="0"/>
              <a:t>    MONTH(</a:t>
            </a:r>
            <a:r>
              <a:rPr lang="en-US" dirty="0" err="1"/>
              <a:t>DateTable</a:t>
            </a:r>
            <a:r>
              <a:rPr lang="en-US" dirty="0"/>
              <a:t>[Date]),</a:t>
            </a:r>
          </a:p>
          <a:p>
            <a:r>
              <a:rPr lang="en-US" dirty="0"/>
              <a:t>    1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8B0D8-99B9-5C59-E9FF-847F4B7A5404}"/>
              </a:ext>
            </a:extLst>
          </p:cNvPr>
          <p:cNvSpPr txBox="1"/>
          <p:nvPr/>
        </p:nvSpPr>
        <p:spPr>
          <a:xfrm>
            <a:off x="7216879" y="2093976"/>
            <a:ext cx="4444180" cy="147732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Avg Monthly Revenue =</a:t>
            </a:r>
          </a:p>
          <a:p>
            <a:r>
              <a:rPr lang="en-US" dirty="0"/>
              <a:t>AVERAGEX(</a:t>
            </a:r>
          </a:p>
          <a:p>
            <a:r>
              <a:rPr lang="en-US" dirty="0"/>
              <a:t>    VALUES(</a:t>
            </a:r>
            <a:r>
              <a:rPr lang="en-US" dirty="0" err="1"/>
              <a:t>DateTable</a:t>
            </a:r>
            <a:r>
              <a:rPr lang="en-US" dirty="0"/>
              <a:t>[</a:t>
            </a:r>
            <a:r>
              <a:rPr lang="en-US" dirty="0" err="1"/>
              <a:t>MonthStartDate</a:t>
            </a:r>
            <a:r>
              <a:rPr lang="en-US" dirty="0"/>
              <a:t>]),</a:t>
            </a:r>
          </a:p>
          <a:p>
            <a:r>
              <a:rPr lang="en-US" dirty="0"/>
              <a:t>    [Total Revenue]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014B4-92DC-DE24-5FEB-2D349DD7F394}"/>
              </a:ext>
            </a:extLst>
          </p:cNvPr>
          <p:cNvSpPr txBox="1"/>
          <p:nvPr/>
        </p:nvSpPr>
        <p:spPr>
          <a:xfrm>
            <a:off x="3706760" y="4422134"/>
            <a:ext cx="4640826" cy="1754326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Revenue Growth % =</a:t>
            </a:r>
          </a:p>
          <a:p>
            <a:r>
              <a:rPr lang="en-US" dirty="0"/>
              <a:t>DIVIDE(</a:t>
            </a:r>
          </a:p>
          <a:p>
            <a:r>
              <a:rPr lang="en-US" dirty="0"/>
              <a:t>    [Total Revenue] - [Revenue Previous Year],</a:t>
            </a:r>
          </a:p>
          <a:p>
            <a:r>
              <a:rPr lang="en-US" dirty="0"/>
              <a:t>    [Revenue Previous Year]</a:t>
            </a:r>
          </a:p>
          <a:p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05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5F81-740E-7B05-5300-A52816328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USED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87675-733C-7FDA-74CD-31035170C7FB}"/>
              </a:ext>
            </a:extLst>
          </p:cNvPr>
          <p:cNvSpPr txBox="1"/>
          <p:nvPr/>
        </p:nvSpPr>
        <p:spPr>
          <a:xfrm flipH="1">
            <a:off x="1069848" y="2346224"/>
            <a:ext cx="3480619" cy="286232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Revenue Last 12 Months =</a:t>
            </a:r>
          </a:p>
          <a:p>
            <a:r>
              <a:rPr lang="en-US" dirty="0"/>
              <a:t>CALCULATE(</a:t>
            </a:r>
          </a:p>
          <a:p>
            <a:r>
              <a:rPr lang="en-US" dirty="0"/>
              <a:t>    [Total Revenue],</a:t>
            </a:r>
          </a:p>
          <a:p>
            <a:r>
              <a:rPr lang="en-US" dirty="0"/>
              <a:t>    DATESINPERIOD(</a:t>
            </a:r>
          </a:p>
          <a:p>
            <a:r>
              <a:rPr lang="en-US" dirty="0"/>
              <a:t>        </a:t>
            </a:r>
            <a:r>
              <a:rPr lang="en-US" dirty="0" err="1"/>
              <a:t>DateTable</a:t>
            </a:r>
            <a:r>
              <a:rPr lang="en-US" dirty="0"/>
              <a:t>[Date],</a:t>
            </a:r>
          </a:p>
          <a:p>
            <a:r>
              <a:rPr lang="en-US" dirty="0"/>
              <a:t>        MAX(</a:t>
            </a:r>
            <a:r>
              <a:rPr lang="en-US" dirty="0" err="1"/>
              <a:t>DateTable</a:t>
            </a:r>
            <a:r>
              <a:rPr lang="en-US" dirty="0"/>
              <a:t>[Date]),</a:t>
            </a:r>
          </a:p>
          <a:p>
            <a:r>
              <a:rPr lang="en-US" dirty="0"/>
              <a:t>        -12,</a:t>
            </a:r>
          </a:p>
          <a:p>
            <a:r>
              <a:rPr lang="en-US" dirty="0"/>
              <a:t>        MONTH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AFC63-08B3-D95E-0177-01C03B408AD5}"/>
              </a:ext>
            </a:extLst>
          </p:cNvPr>
          <p:cNvSpPr txBox="1"/>
          <p:nvPr/>
        </p:nvSpPr>
        <p:spPr>
          <a:xfrm>
            <a:off x="7452851" y="2900222"/>
            <a:ext cx="3854246" cy="1754326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Revenue Previous Year =</a:t>
            </a:r>
          </a:p>
          <a:p>
            <a:r>
              <a:rPr lang="en-US" dirty="0"/>
              <a:t>CALCULATE(</a:t>
            </a:r>
          </a:p>
          <a:p>
            <a:r>
              <a:rPr lang="en-US" dirty="0"/>
              <a:t>    [Total Revenue],</a:t>
            </a:r>
          </a:p>
          <a:p>
            <a:r>
              <a:rPr lang="en-US" dirty="0"/>
              <a:t>    DATEADD(</a:t>
            </a:r>
            <a:r>
              <a:rPr lang="en-US" dirty="0" err="1"/>
              <a:t>DateTable</a:t>
            </a:r>
            <a:r>
              <a:rPr lang="en-US" dirty="0"/>
              <a:t>[Date], -1, YEAR)</a:t>
            </a:r>
          </a:p>
          <a:p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10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CA0C-7DCC-FF18-11D9-41AA7BD4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 &amp; Learnings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67F09-6470-F273-52EB-BA03F4E3B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vert="horz" wrap="square" lIns="91440" tIns="45720" rIns="91440" bIns="4572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/>
              <a:t>Enabled data-driven decision making by transforming raw hotel booking data into actionable dashboards.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Improved visibility into revenue performance, occupancy efficiency, and cancellation losses.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Helped identify peak seasons, underutilized periods, and high-risk booking segments.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Supported future planning through AI-based revenue forecasting with uncertainty awareness.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/>
              <a:t>Gained hands-on experience in data cleaning, Power BI modeling, DAX measures, and business storytelling.</a:t>
            </a:r>
          </a:p>
        </p:txBody>
      </p:sp>
    </p:spTree>
    <p:extLst>
      <p:ext uri="{BB962C8B-B14F-4D97-AF65-F5344CB8AC3E}">
        <p14:creationId xmlns:p14="http://schemas.microsoft.com/office/powerpoint/2010/main" val="4060646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91E0F-3380-A656-9EB4-7415DB9FD94C}"/>
              </a:ext>
            </a:extLst>
          </p:cNvPr>
          <p:cNvSpPr txBox="1"/>
          <p:nvPr/>
        </p:nvSpPr>
        <p:spPr>
          <a:xfrm>
            <a:off x="722671" y="2644170"/>
            <a:ext cx="107466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+mj-lt"/>
              </a:rPr>
              <a:t>Thank you</a:t>
            </a:r>
            <a:endParaRPr lang="en-IN" sz="9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1742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162</TotalTime>
  <Words>733</Words>
  <Application>Microsoft Office PowerPoint</Application>
  <PresentationFormat>Widescreen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Wingdings</vt:lpstr>
      <vt:lpstr>Damask</vt:lpstr>
      <vt:lpstr>HotelRevAI</vt:lpstr>
      <vt:lpstr>Data Cleaning Process</vt:lpstr>
      <vt:lpstr>Data Modeling in Power BI</vt:lpstr>
      <vt:lpstr>Dashboard 1: Revenue Performance</vt:lpstr>
      <vt:lpstr>DAX USED</vt:lpstr>
      <vt:lpstr>Dashboard 2: Occupancy &amp; Demand</vt:lpstr>
      <vt:lpstr>DAX USED</vt:lpstr>
      <vt:lpstr>Dashboard 3: Cancellation Analysis</vt:lpstr>
      <vt:lpstr>DAX USED</vt:lpstr>
      <vt:lpstr>Dashboard 4: Revenue Forecasting</vt:lpstr>
      <vt:lpstr>DAX USED</vt:lpstr>
      <vt:lpstr>DAX USED</vt:lpstr>
      <vt:lpstr>Business Impact &amp;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NAVEED MUZAMMIL SYED</dc:creator>
  <cp:lastModifiedBy>Aiswarya Lakshmi Moravaneni</cp:lastModifiedBy>
  <cp:revision>3</cp:revision>
  <dcterms:created xsi:type="dcterms:W3CDTF">2026-02-26T17:15:54Z</dcterms:created>
  <dcterms:modified xsi:type="dcterms:W3CDTF">2026-02-27T14:34:09Z</dcterms:modified>
</cp:coreProperties>
</file>